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74552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PARTIAL-THEO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 SEMANAL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429000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W22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4434840"/>
            <a:ext cx="11274552" cy="0"/>
          </a:xfrm>
          <a:prstGeom prst="line">
            <a:avLst/>
          </a:prstGeom>
          <a:noFill/>
          <a:ln w="12700">
            <a:solidFill>
              <a:srgbClr val="2D37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94360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3364992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LABOR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502152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72784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COGS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409944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0.0%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9180576" y="4617720"/>
            <a:ext cx="2788920" cy="1115568"/>
          </a:xfrm>
          <a:prstGeom prst="rect">
            <a:avLst>
              <a:gd name="adj" fmla="val 655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17736" y="4727448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PROFIT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9317736" y="48920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57200" y="658368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Restaurant X-Ray · DineWise Solutions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COST / COMPRAS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partial-theo · W22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6094476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58658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5865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$700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094476" y="777240"/>
            <a:ext cx="6094476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1636" y="886968"/>
            <a:ext cx="586587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6231636" y="1051560"/>
            <a:ext cx="58658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855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31636" y="1536192"/>
            <a:ext cx="586587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$200</a:t>
            </a:r>
            <a:endParaRPr lang="en-US" sz="75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172200" cy="1975104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46520" y="1993392"/>
            <a:ext cx="5321808" cy="1975104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160" y="4041648"/>
            <a:ext cx="9985248" cy="202996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241280" y="4041648"/>
            <a:ext cx="1828800" cy="960120"/>
          </a:xfrm>
          <a:prstGeom prst="rect">
            <a:avLst>
              <a:gd name="adj" fmla="val 7619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332720" y="4133088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COGS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10332720" y="429768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117"/>
          </a:solidFill>
          <a:ln w="12700">
            <a:solidFill>
              <a:srgbClr val="0F111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5720"/>
            <a:ext cx="12188952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64008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COSTO DE USO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0" y="201168"/>
            <a:ext cx="4251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Sandbox — partial-theo · 2026-W22 → 2026-W22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0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REAL A&amp;B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37160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$900 uso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047238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4398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 COSTO P.MIX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3184398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184398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$680 teórico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6094476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31636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VARIACIÓN $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6231636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231636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calculable · falta teórico en al menos una categoría con ventas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9141714" y="777240"/>
            <a:ext cx="3047238" cy="1143000"/>
          </a:xfrm>
          <a:prstGeom prst="rect">
            <a:avLst>
              <a:gd name="adj" fmla="val 6400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78874" y="886968"/>
            <a:ext cx="281863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8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A&amp;B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9278874" y="1051560"/>
            <a:ext cx="281863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$9,500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78874" y="1536192"/>
            <a:ext cx="2818638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 período</a:t>
            </a:r>
            <a:endParaRPr lang="en-US" sz="75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7160" y="1993392"/>
            <a:ext cx="6656832" cy="2103120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49440" y="1993392"/>
            <a:ext cx="5074920" cy="21031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7160" y="4169664"/>
            <a:ext cx="1191463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DETALLE POR CATEGORÍA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10972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10972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8.8%</a:t>
            </a:r>
            <a:endParaRPr lang="en-US" sz="1600" dirty="0"/>
          </a:p>
        </p:txBody>
      </p:sp>
      <p:sp>
        <p:nvSpPr>
          <p:cNvPr id="30" name="Text 26"/>
          <p:cNvSpPr/>
          <p:nvPr/>
        </p:nvSpPr>
        <p:spPr>
          <a:xfrm>
            <a:off x="10972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1" name="Text 27"/>
          <p:cNvSpPr/>
          <p:nvPr/>
        </p:nvSpPr>
        <p:spPr>
          <a:xfrm>
            <a:off x="1237183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8.5%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1237183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33" name="Shape 29"/>
          <p:cNvSpPr/>
          <p:nvPr/>
        </p:nvSpPr>
        <p:spPr>
          <a:xfrm>
            <a:off x="2437790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2437790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2547518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Beverage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2547518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2547518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38" name="Text 34"/>
          <p:cNvSpPr/>
          <p:nvPr/>
        </p:nvSpPr>
        <p:spPr>
          <a:xfrm>
            <a:off x="367497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5"/>
          <p:cNvSpPr/>
          <p:nvPr/>
        </p:nvSpPr>
        <p:spPr>
          <a:xfrm>
            <a:off x="367497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40" name="Text 36"/>
          <p:cNvSpPr/>
          <p:nvPr/>
        </p:nvSpPr>
        <p:spPr>
          <a:xfrm>
            <a:off x="2547518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41" name="Shape 37"/>
          <p:cNvSpPr/>
          <p:nvPr/>
        </p:nvSpPr>
        <p:spPr>
          <a:xfrm>
            <a:off x="487558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487558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498530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Liquor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98530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13.3%</a:t>
            </a:r>
            <a:endParaRPr lang="en-US" sz="1600" dirty="0"/>
          </a:p>
        </p:txBody>
      </p:sp>
      <p:sp>
        <p:nvSpPr>
          <p:cNvPr id="45" name="Text 41"/>
          <p:cNvSpPr/>
          <p:nvPr/>
        </p:nvSpPr>
        <p:spPr>
          <a:xfrm>
            <a:off x="498530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46" name="Text 42"/>
          <p:cNvSpPr/>
          <p:nvPr/>
        </p:nvSpPr>
        <p:spPr>
          <a:xfrm>
            <a:off x="611276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Text 43"/>
          <p:cNvSpPr/>
          <p:nvPr/>
        </p:nvSpPr>
        <p:spPr>
          <a:xfrm>
            <a:off x="611276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48" name="Text 44"/>
          <p:cNvSpPr/>
          <p:nvPr/>
        </p:nvSpPr>
        <p:spPr>
          <a:xfrm>
            <a:off x="498530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costo teórico incompleto en la categoría</a:t>
            </a:r>
            <a:endParaRPr lang="en-US" sz="650" dirty="0"/>
          </a:p>
        </p:txBody>
      </p:sp>
      <p:sp>
        <p:nvSpPr>
          <p:cNvPr id="49" name="Shape 45"/>
          <p:cNvSpPr/>
          <p:nvPr/>
        </p:nvSpPr>
        <p:spPr>
          <a:xfrm>
            <a:off x="7313371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7313371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7423099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Beer</a:t>
            </a:r>
            <a:endParaRPr lang="en-US" sz="800" dirty="0"/>
          </a:p>
        </p:txBody>
      </p:sp>
      <p:sp>
        <p:nvSpPr>
          <p:cNvPr id="52" name="Text 48"/>
          <p:cNvSpPr/>
          <p:nvPr/>
        </p:nvSpPr>
        <p:spPr>
          <a:xfrm>
            <a:off x="7423099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53" name="Text 49"/>
          <p:cNvSpPr/>
          <p:nvPr/>
        </p:nvSpPr>
        <p:spPr>
          <a:xfrm>
            <a:off x="7423099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54" name="Text 50"/>
          <p:cNvSpPr/>
          <p:nvPr/>
        </p:nvSpPr>
        <p:spPr>
          <a:xfrm>
            <a:off x="8550554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8550554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56" name="Text 52"/>
          <p:cNvSpPr/>
          <p:nvPr/>
        </p:nvSpPr>
        <p:spPr>
          <a:xfrm>
            <a:off x="7423099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57" name="Shape 53"/>
          <p:cNvSpPr/>
          <p:nvPr/>
        </p:nvSpPr>
        <p:spPr>
          <a:xfrm>
            <a:off x="9751162" y="4343400"/>
            <a:ext cx="2382926" cy="1389888"/>
          </a:xfrm>
          <a:prstGeom prst="rect">
            <a:avLst>
              <a:gd name="adj" fmla="val 3947"/>
            </a:avLst>
          </a:prstGeom>
          <a:solidFill>
            <a:srgbClr val="1E2235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751162" y="4343400"/>
            <a:ext cx="2382926" cy="73152"/>
          </a:xfrm>
          <a:prstGeom prst="rect">
            <a:avLst>
              <a:gd name="adj" fmla="val 625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59" name="Text 55"/>
          <p:cNvSpPr/>
          <p:nvPr/>
        </p:nvSpPr>
        <p:spPr>
          <a:xfrm>
            <a:off x="9860890" y="4425696"/>
            <a:ext cx="225491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Wine</a:t>
            </a:r>
            <a:endParaRPr lang="en-US" sz="800" dirty="0"/>
          </a:p>
        </p:txBody>
      </p:sp>
      <p:sp>
        <p:nvSpPr>
          <p:cNvPr id="60" name="Text 56"/>
          <p:cNvSpPr/>
          <p:nvPr/>
        </p:nvSpPr>
        <p:spPr>
          <a:xfrm>
            <a:off x="9860890" y="4626864"/>
            <a:ext cx="225491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1600" dirty="0"/>
          </a:p>
        </p:txBody>
      </p:sp>
      <p:sp>
        <p:nvSpPr>
          <p:cNvPr id="61" name="Text 57"/>
          <p:cNvSpPr/>
          <p:nvPr/>
        </p:nvSpPr>
        <p:spPr>
          <a:xfrm>
            <a:off x="9860890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</a:t>
            </a:r>
            <a:endParaRPr lang="en-US" sz="700" dirty="0"/>
          </a:p>
        </p:txBody>
      </p:sp>
      <p:sp>
        <p:nvSpPr>
          <p:cNvPr id="62" name="Text 58"/>
          <p:cNvSpPr/>
          <p:nvPr/>
        </p:nvSpPr>
        <p:spPr>
          <a:xfrm>
            <a:off x="10988345" y="4992624"/>
            <a:ext cx="1127455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59"/>
          <p:cNvSpPr/>
          <p:nvPr/>
        </p:nvSpPr>
        <p:spPr>
          <a:xfrm>
            <a:off x="10988345" y="5138928"/>
            <a:ext cx="1127455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P.Mix</a:t>
            </a:r>
            <a:endParaRPr lang="en-US" sz="650" dirty="0"/>
          </a:p>
        </p:txBody>
      </p:sp>
      <p:sp>
        <p:nvSpPr>
          <p:cNvPr id="64" name="Text 60"/>
          <p:cNvSpPr/>
          <p:nvPr/>
        </p:nvSpPr>
        <p:spPr>
          <a:xfrm>
            <a:off x="9860890" y="5358384"/>
            <a:ext cx="221833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no calculable · ventas iguales a cero</a:t>
            </a:r>
            <a:endParaRPr lang="en-US" sz="650" dirty="0"/>
          </a:p>
        </p:txBody>
      </p:sp>
      <p:sp>
        <p:nvSpPr>
          <p:cNvPr id="65" name="Text 61"/>
          <p:cNvSpPr/>
          <p:nvPr/>
        </p:nvSpPr>
        <p:spPr>
          <a:xfrm>
            <a:off x="137160" y="5806440"/>
            <a:ext cx="1191463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Costo teórico ausente o incompleto en al menos una categoría con ventas.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Base de ventas: Ventas netas. Corresponde al toggle "+Desc. Op." OFF de la UI.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Restaurant X-Ray · DineWise Solutions</dc:creator>
  <cp:lastModifiedBy>Restaurant X-Ray · DineWise Solutions</cp:lastModifiedBy>
  <cp:revision>1</cp:revision>
  <dcterms:created xsi:type="dcterms:W3CDTF">2026-09-06T10:54:01Z</dcterms:created>
  <dcterms:modified xsi:type="dcterms:W3CDTF">2026-09-06T10:54:01Z</dcterms:modified>
</cp:coreProperties>
</file>